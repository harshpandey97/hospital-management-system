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544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3840480" cy="3840480"/>
          </a:xfrm>
          <a:prstGeom prst="ellipse">
            <a:avLst/>
          </a:prstGeom>
          <a:solidFill>
            <a:srgbClr val="028090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754880"/>
            <a:ext cx="3291840" cy="3291840"/>
          </a:xfrm>
          <a:prstGeom prst="ellipse">
            <a:avLst/>
          </a:prstGeom>
          <a:solidFill>
            <a:srgbClr val="00A896">
              <a:alpha val="2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965960"/>
            <a:ext cx="1874520" cy="384048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65960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DATA PROJECT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2468880"/>
            <a:ext cx="10424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Hospital Management System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22960" y="342900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SQL Server (T-SQL) Data Analysis Case Study — Patients, Doctors, Appointments,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&amp; Hospital Operations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4434840"/>
            <a:ext cx="2926080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4617720"/>
            <a:ext cx="5486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 Pandey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 | BI Analyst | AI Analyst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github.com/harshpandey97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5989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Tables  •  15 Business Questions Solved  •  3 Reusable KPI Views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773936" cy="292608"/>
          </a:xfrm>
          <a:prstGeom prst="roundRect">
            <a:avLst>
              <a:gd name="adj" fmla="val 50000"/>
            </a:avLst>
          </a:prstGeom>
          <a:solidFill>
            <a:srgbClr val="EAF6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17739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544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Turning Raw Hospital Records Into Decisions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3566160" cy="3246120"/>
          </a:xfrm>
          <a:prstGeom prst="roundRect">
            <a:avLst>
              <a:gd name="adj" fmla="val 2535"/>
            </a:avLst>
          </a:prstGeom>
          <a:solidFill>
            <a:srgbClr val="EAF6F6"/>
          </a:solidFill>
          <a:ln/>
        </p:spPr>
      </p:sp>
      <p:sp>
        <p:nvSpPr>
          <p:cNvPr id="6" name="Shape 4"/>
          <p:cNvSpPr/>
          <p:nvPr/>
        </p:nvSpPr>
        <p:spPr>
          <a:xfrm>
            <a:off x="713232" y="1947672"/>
            <a:ext cx="566928" cy="56692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194767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🏥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13232" y="2651760"/>
            <a:ext cx="3054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544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Scenario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13232" y="3063240"/>
            <a:ext cx="3054096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mid-size hospital tracks patients, doctors, nurses, appointments, admissions, treatments, billing and lab work across 14 relational tables — but has no reporting layer to act on it.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43400" y="1691640"/>
            <a:ext cx="3566160" cy="3246120"/>
          </a:xfrm>
          <a:prstGeom prst="roundRect">
            <a:avLst>
              <a:gd name="adj" fmla="val 2535"/>
            </a:avLst>
          </a:prstGeom>
          <a:solidFill>
            <a:srgbClr val="EAF6F6"/>
          </a:solidFill>
          <a:ln/>
        </p:spPr>
      </p:sp>
      <p:sp>
        <p:nvSpPr>
          <p:cNvPr id="11" name="Shape 9"/>
          <p:cNvSpPr/>
          <p:nvPr/>
        </p:nvSpPr>
        <p:spPr>
          <a:xfrm>
            <a:off x="4599432" y="1947672"/>
            <a:ext cx="566928" cy="56692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99432" y="194767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599432" y="2651760"/>
            <a:ext cx="3054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544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Goal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4599432" y="3063240"/>
            <a:ext cx="3054096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production-style T-SQL against realistic sample data to answer 15 real operational and financial questions hospital management would actually ask.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229600" y="1691640"/>
            <a:ext cx="3566160" cy="3246120"/>
          </a:xfrm>
          <a:prstGeom prst="roundRect">
            <a:avLst>
              <a:gd name="adj" fmla="val 2535"/>
            </a:avLst>
          </a:prstGeom>
          <a:solidFill>
            <a:srgbClr val="EAF6F6"/>
          </a:solidFill>
          <a:ln/>
        </p:spPr>
      </p:sp>
      <p:sp>
        <p:nvSpPr>
          <p:cNvPr id="16" name="Shape 14"/>
          <p:cNvSpPr/>
          <p:nvPr/>
        </p:nvSpPr>
        <p:spPr>
          <a:xfrm>
            <a:off x="8485632" y="1947672"/>
            <a:ext cx="566928" cy="56692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85632" y="194767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485632" y="2651760"/>
            <a:ext cx="3054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544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Deliverable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8485632" y="3063240"/>
            <a:ext cx="3054096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queries, aggregations, and window functions — packaged into 3 reusable KPI views for revenue, doctor performance, and room occupancy.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77240" y="521208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777240" y="5742432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611880" y="521208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3611880" y="5742432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446520" y="521208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6446520" y="5742432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9281160" y="521208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₹305K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9281160" y="5742432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Billed Revenue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 — SQL Data Analysis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91640" cy="292608"/>
          </a:xfrm>
          <a:prstGeom prst="roundRect">
            <a:avLst>
              <a:gd name="adj" fmla="val 50000"/>
            </a:avLst>
          </a:prstGeom>
          <a:solidFill>
            <a:srgbClr val="EAF6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544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14-Table Relational Schema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operational entities linked through clean foreign keys — sized at ~40 rows/table for a realistic but query-friendly demo dataset.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965960"/>
            <a:ext cx="2697480" cy="416052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E3E9EA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965960"/>
            <a:ext cx="2697480" cy="5029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96596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&amp; Care Teams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13232" y="2752344"/>
            <a:ext cx="82296" cy="822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896112" y="2679192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13232" y="3227832"/>
            <a:ext cx="82296" cy="822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896112" y="315468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13232" y="3703320"/>
            <a:ext cx="82296" cy="822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896112" y="3630168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Nurses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13232" y="4178808"/>
            <a:ext cx="82296" cy="822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" y="4105656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337560" y="1965960"/>
            <a:ext cx="2697480" cy="416052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E3E9EA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337560" y="1965960"/>
            <a:ext cx="2697480" cy="5029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9" name="Text 17"/>
          <p:cNvSpPr/>
          <p:nvPr/>
        </p:nvSpPr>
        <p:spPr>
          <a:xfrm>
            <a:off x="3337560" y="196596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Activity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593592" y="2752344"/>
            <a:ext cx="82296" cy="8229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1" name="Text 19"/>
          <p:cNvSpPr/>
          <p:nvPr/>
        </p:nvSpPr>
        <p:spPr>
          <a:xfrm>
            <a:off x="3776472" y="2679192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3593592" y="3227832"/>
            <a:ext cx="82296" cy="8229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3" name="Text 21"/>
          <p:cNvSpPr/>
          <p:nvPr/>
        </p:nvSpPr>
        <p:spPr>
          <a:xfrm>
            <a:off x="3776472" y="315468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3593592" y="3703320"/>
            <a:ext cx="82296" cy="8229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5" name="Text 23"/>
          <p:cNvSpPr/>
          <p:nvPr/>
        </p:nvSpPr>
        <p:spPr>
          <a:xfrm>
            <a:off x="3776472" y="3630168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Treatments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3593592" y="4178808"/>
            <a:ext cx="82296" cy="8229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7" name="Text 25"/>
          <p:cNvSpPr/>
          <p:nvPr/>
        </p:nvSpPr>
        <p:spPr>
          <a:xfrm>
            <a:off x="3776472" y="4105656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LabTests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3593592" y="4654296"/>
            <a:ext cx="82296" cy="8229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9" name="Text 27"/>
          <p:cNvSpPr/>
          <p:nvPr/>
        </p:nvSpPr>
        <p:spPr>
          <a:xfrm>
            <a:off x="3776472" y="4581144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TestResults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217920" y="1965960"/>
            <a:ext cx="2697480" cy="416052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E3E9EA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217920" y="1965960"/>
            <a:ext cx="2697480" cy="5029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2" name="Text 30"/>
          <p:cNvSpPr/>
          <p:nvPr/>
        </p:nvSpPr>
        <p:spPr>
          <a:xfrm>
            <a:off x="6217920" y="196596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473952" y="2752344"/>
            <a:ext cx="82296" cy="822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4" name="Text 32"/>
          <p:cNvSpPr/>
          <p:nvPr/>
        </p:nvSpPr>
        <p:spPr>
          <a:xfrm>
            <a:off x="6656832" y="2679192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Rooms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6473952" y="3227832"/>
            <a:ext cx="82296" cy="822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6" name="Text 34"/>
          <p:cNvSpPr/>
          <p:nvPr/>
        </p:nvSpPr>
        <p:spPr>
          <a:xfrm>
            <a:off x="6656832" y="315468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Medicines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6473952" y="3703320"/>
            <a:ext cx="82296" cy="822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8" name="Text 36"/>
          <p:cNvSpPr/>
          <p:nvPr/>
        </p:nvSpPr>
        <p:spPr>
          <a:xfrm>
            <a:off x="6656832" y="3630168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Prescriptions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9098280" y="1965960"/>
            <a:ext cx="2697480" cy="416052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E3E9EA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1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9098280" y="1965960"/>
            <a:ext cx="2697480" cy="502920"/>
          </a:xfrm>
          <a:prstGeom prst="rect">
            <a:avLst/>
          </a:prstGeom>
          <a:solidFill>
            <a:srgbClr val="F4A259"/>
          </a:solidFill>
          <a:ln/>
        </p:spPr>
      </p:sp>
      <p:sp>
        <p:nvSpPr>
          <p:cNvPr id="41" name="Text 39"/>
          <p:cNvSpPr/>
          <p:nvPr/>
        </p:nvSpPr>
        <p:spPr>
          <a:xfrm>
            <a:off x="9098280" y="196596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9354312" y="2752344"/>
            <a:ext cx="82296" cy="82296"/>
          </a:xfrm>
          <a:prstGeom prst="ellipse">
            <a:avLst/>
          </a:prstGeom>
          <a:solidFill>
            <a:srgbClr val="F4A259"/>
          </a:solidFill>
          <a:ln/>
        </p:spPr>
      </p:sp>
      <p:sp>
        <p:nvSpPr>
          <p:cNvPr id="43" name="Text 41"/>
          <p:cNvSpPr/>
          <p:nvPr/>
        </p:nvSpPr>
        <p:spPr>
          <a:xfrm>
            <a:off x="9537192" y="2679192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9354312" y="3227832"/>
            <a:ext cx="82296" cy="82296"/>
          </a:xfrm>
          <a:prstGeom prst="ellipse">
            <a:avLst/>
          </a:prstGeom>
          <a:solidFill>
            <a:srgbClr val="F4A259"/>
          </a:solidFill>
          <a:ln/>
        </p:spPr>
      </p:sp>
      <p:sp>
        <p:nvSpPr>
          <p:cNvPr id="45" name="Text 43"/>
          <p:cNvSpPr/>
          <p:nvPr/>
        </p:nvSpPr>
        <p:spPr>
          <a:xfrm>
            <a:off x="9537192" y="315468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 — SQL Data Analysis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15568" cy="292608"/>
          </a:xfrm>
          <a:prstGeom prst="roundRect">
            <a:avLst>
              <a:gd name="adj" fmla="val 50000"/>
            </a:avLst>
          </a:prstGeom>
          <a:solidFill>
            <a:srgbClr val="EAF6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11155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544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Tools, Techniques &amp; SQL Skills Applied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5577840" cy="4434840"/>
          </a:xfrm>
          <a:prstGeom prst="roundRect">
            <a:avLst>
              <a:gd name="adj" fmla="val 1856"/>
            </a:avLst>
          </a:prstGeom>
          <a:solidFill>
            <a:srgbClr val="EAF6F6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202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44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T-SQL Techniques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77240" y="2496312"/>
            <a:ext cx="100584" cy="10058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237744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Aggregations — SUM, AVG, COUNT across joins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77240" y="3118104"/>
            <a:ext cx="100584" cy="10058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2999232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functions — RANK(), DENSE_RANK()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77240" y="3739896"/>
            <a:ext cx="100584" cy="10058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3621024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Multi-table JOINs (up to 3 tables deep)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77240" y="4361688"/>
            <a:ext cx="100584" cy="10058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4242816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functions — YEAR, MONTH, DATEDIFF, FORMAT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77240" y="4983480"/>
            <a:ext cx="100584" cy="10058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4864608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aggregation with CASE WHEN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77240" y="5605272"/>
            <a:ext cx="100584" cy="10058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548640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views (CREATE OR ALTER VIEW)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09360" y="1691640"/>
            <a:ext cx="5394960" cy="4434840"/>
          </a:xfrm>
          <a:prstGeom prst="roundRect">
            <a:avLst>
              <a:gd name="adj" fmla="val 1856"/>
            </a:avLst>
          </a:prstGeom>
          <a:solidFill>
            <a:srgbClr val="05445E"/>
          </a:solidFill>
          <a:ln/>
        </p:spPr>
      </p:sp>
      <p:sp>
        <p:nvSpPr>
          <p:cNvPr id="20" name="Text 18"/>
          <p:cNvSpPr/>
          <p:nvPr/>
        </p:nvSpPr>
        <p:spPr>
          <a:xfrm>
            <a:off x="6629400" y="19202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Platform &amp; Deliverables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629400" y="2514600"/>
            <a:ext cx="457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✅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132320" y="2514600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SQL Server (T-SQL)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132320" y="2825496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+ sample data + solution scripts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629400" y="3410712"/>
            <a:ext cx="457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✅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7132320" y="3410712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rows / table sample dataset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132320" y="3721608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 scale — enough variety, fast to query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629400" y="4306824"/>
            <a:ext cx="457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✅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7132320" y="4306824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business questions answered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132320" y="4617720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Doctors, revenue, occupancy, meds, labs &amp; more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629400" y="5202936"/>
            <a:ext cx="457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✅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7132320" y="5202936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production-style KPI views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132320" y="5513832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Revenue, doctor performance, room occupancy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 — SQL Data Analysis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4206240"/>
            <a:ext cx="4572000" cy="4572000"/>
          </a:xfrm>
          <a:prstGeom prst="ellipse">
            <a:avLst/>
          </a:prstGeom>
          <a:solidFill>
            <a:srgbClr val="028090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278892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7889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22960" y="324612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Care Team &amp; Operations Analytics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22960" y="411480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1–2, 12 — staffing mix, workload and reach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15568" cy="292608"/>
          </a:xfrm>
          <a:prstGeom prst="roundRect">
            <a:avLst>
              <a:gd name="adj" fmla="val 50000"/>
            </a:avLst>
          </a:prstGeom>
          <a:solidFill>
            <a:srgbClr val="EAF6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11155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835640" y="384048"/>
            <a:ext cx="868680" cy="365760"/>
          </a:xfrm>
          <a:prstGeom prst="roundRect">
            <a:avLst>
              <a:gd name="adj" fmla="val 20000"/>
            </a:avLst>
          </a:prstGeom>
          <a:solidFill>
            <a:srgbClr val="05445E"/>
          </a:solidFill>
          <a:ln/>
        </p:spPr>
      </p:sp>
      <p:sp>
        <p:nvSpPr>
          <p:cNvPr id="5" name="Text 3"/>
          <p:cNvSpPr/>
          <p:nvPr/>
        </p:nvSpPr>
        <p:spPr>
          <a:xfrm>
            <a:off x="10835640" y="384048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749808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544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Department Has the Most Doctors?</a:t>
            </a:r>
            <a:endParaRPr lang="en-US" sz="2400" dirty="0"/>
          </a:p>
        </p:txBody>
      </p:sp>
      <p:pic>
        <p:nvPicPr>
          <p:cNvPr id="7" name="Image 0" descr="/home/claude/hms/charts/q1_doctors_dep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480560" y="1600200"/>
            <a:ext cx="6949440" cy="47091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1600200"/>
            <a:ext cx="3840480" cy="4709160"/>
          </a:xfrm>
          <a:prstGeom prst="roundRect">
            <a:avLst>
              <a:gd name="adj" fmla="val 2143"/>
            </a:avLst>
          </a:prstGeom>
          <a:solidFill>
            <a:srgbClr val="EAF6F6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18288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31520" y="219456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0544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Orthopedics leads staffing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731520" y="3236976"/>
            <a:ext cx="73152" cy="7315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9"/>
          <p:cNvSpPr/>
          <p:nvPr/>
        </p:nvSpPr>
        <p:spPr>
          <a:xfrm>
            <a:off x="914400" y="3127248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Orthopedics fields 5 doctors — the largest specialist bench of any department.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31520" y="3950208"/>
            <a:ext cx="73152" cy="7315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4" name="Text 11"/>
          <p:cNvSpPr/>
          <p:nvPr/>
        </p:nvSpPr>
        <p:spPr>
          <a:xfrm>
            <a:off x="914400" y="384048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Medicine, Pediatrics and ENT are tied at 4 doctors each.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31520" y="4663440"/>
            <a:ext cx="73152" cy="7315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Text 13"/>
          <p:cNvSpPr/>
          <p:nvPr/>
        </p:nvSpPr>
        <p:spPr>
          <a:xfrm>
            <a:off x="914400" y="4553712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Cardiology has just 1 doctor despite carrying the highest consultation fee (₹1,000) — a potential capacity gap.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 — SQL Data Analysis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15568" cy="292608"/>
          </a:xfrm>
          <a:prstGeom prst="roundRect">
            <a:avLst>
              <a:gd name="adj" fmla="val 50000"/>
            </a:avLst>
          </a:prstGeom>
          <a:solidFill>
            <a:srgbClr val="EAF6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11155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835640" y="384048"/>
            <a:ext cx="868680" cy="365760"/>
          </a:xfrm>
          <a:prstGeom prst="roundRect">
            <a:avLst>
              <a:gd name="adj" fmla="val 20000"/>
            </a:avLst>
          </a:prstGeom>
          <a:solidFill>
            <a:srgbClr val="05445E"/>
          </a:solidFill>
          <a:ln/>
        </p:spPr>
      </p:sp>
      <p:sp>
        <p:nvSpPr>
          <p:cNvPr id="5" name="Text 3"/>
          <p:cNvSpPr/>
          <p:nvPr/>
        </p:nvSpPr>
        <p:spPr>
          <a:xfrm>
            <a:off x="10835640" y="384048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749808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544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Doctors See the Most Patients?</a:t>
            </a:r>
            <a:endParaRPr lang="en-US" sz="2400" dirty="0"/>
          </a:p>
        </p:txBody>
      </p:sp>
      <p:pic>
        <p:nvPicPr>
          <p:cNvPr id="7" name="Image 0" descr="/home/claude/hms/charts/q2_top_doctor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480560" y="1600200"/>
            <a:ext cx="6949440" cy="47091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1600200"/>
            <a:ext cx="3840480" cy="4709160"/>
          </a:xfrm>
          <a:prstGeom prst="roundRect">
            <a:avLst>
              <a:gd name="adj" fmla="val 2143"/>
            </a:avLst>
          </a:prstGeom>
          <a:solidFill>
            <a:srgbClr val="EAF6F6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18288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31520" y="219456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0544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doctors tie for busiest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731520" y="3236976"/>
            <a:ext cx="73152" cy="7315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9"/>
          <p:cNvSpPr/>
          <p:nvPr/>
        </p:nvSpPr>
        <p:spPr>
          <a:xfrm>
            <a:off x="914400" y="3127248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Raksha Varughese and Dr. Mohini Prakash each logged 6 appointments — the highest of any doctor.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31520" y="3950208"/>
            <a:ext cx="73152" cy="7315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4" name="Text 11"/>
          <p:cNvSpPr/>
          <p:nvPr/>
        </p:nvSpPr>
        <p:spPr>
          <a:xfrm>
            <a:off x="914400" y="384048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Physicians and Orthopedic Surgeons dominate the top 5 by volume.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31520" y="4663440"/>
            <a:ext cx="73152" cy="7315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Text 13"/>
          <p:cNvSpPr/>
          <p:nvPr/>
        </p:nvSpPr>
        <p:spPr>
          <a:xfrm>
            <a:off x="914400" y="4553712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with SQL's RANK() window function so ties share a position.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 — SQL Data Analysis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EAF6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835640" y="384048"/>
            <a:ext cx="868680" cy="365760"/>
          </a:xfrm>
          <a:prstGeom prst="roundRect">
            <a:avLst>
              <a:gd name="adj" fmla="val 20000"/>
            </a:avLst>
          </a:prstGeom>
          <a:solidFill>
            <a:srgbClr val="05445E"/>
          </a:solidFill>
          <a:ln/>
        </p:spPr>
      </p:sp>
      <p:sp>
        <p:nvSpPr>
          <p:cNvPr id="5" name="Text 3"/>
          <p:cNvSpPr/>
          <p:nvPr/>
        </p:nvSpPr>
        <p:spPr>
          <a:xfrm>
            <a:off x="10835640" y="384048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Q12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749808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544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Doctors by Unique Patient Count</a:t>
            </a:r>
            <a:endParaRPr lang="en-US" sz="2400" dirty="0"/>
          </a:p>
        </p:txBody>
      </p:sp>
      <p:pic>
        <p:nvPicPr>
          <p:cNvPr id="7" name="Image 0" descr="/home/claude/hms/charts/q12_unique_patient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480560" y="1600200"/>
            <a:ext cx="6949440" cy="47091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1600200"/>
            <a:ext cx="3840480" cy="4709160"/>
          </a:xfrm>
          <a:prstGeom prst="roundRect">
            <a:avLst>
              <a:gd name="adj" fmla="val 2143"/>
            </a:avLst>
          </a:prstGeom>
          <a:solidFill>
            <a:srgbClr val="EAF6F6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18288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31520" y="219456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0544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Volume vs. reach diverge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731520" y="3236976"/>
            <a:ext cx="73152" cy="7315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9"/>
          <p:cNvSpPr/>
          <p:nvPr/>
        </p:nvSpPr>
        <p:spPr>
          <a:xfrm>
            <a:off x="914400" y="3127248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different doctors each treated 5 distinct patients — a broader reach than raw appointment counts alone suggest.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31520" y="3950208"/>
            <a:ext cx="73152" cy="7315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4" name="Text 11"/>
          <p:cNvSpPr/>
          <p:nvPr/>
        </p:nvSpPr>
        <p:spPr>
          <a:xfrm>
            <a:off x="914400" y="384048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COUNT(DISTINCT patient_id) reveals doctors who serve more unique people rather than repeat visits from the same few.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31520" y="4663440"/>
            <a:ext cx="73152" cy="7315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Text 13"/>
          <p:cNvSpPr/>
          <p:nvPr/>
        </p:nvSpPr>
        <p:spPr>
          <a:xfrm>
            <a:off x="914400" y="4553712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for measuring patient-facing coverage, not just busyness.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 — SQL Data Analysis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4206240"/>
            <a:ext cx="4572000" cy="4572000"/>
          </a:xfrm>
          <a:prstGeom prst="ellipse">
            <a:avLst/>
          </a:prstGeom>
          <a:solidFill>
            <a:srgbClr val="028090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278892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7889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22960" y="324612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Financial &amp; Revenue Analytics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22960" y="411480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3, 4, 7, 10, 15 — where the money comes from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033272" cy="292608"/>
          </a:xfrm>
          <a:prstGeom prst="roundRect">
            <a:avLst>
              <a:gd name="adj" fmla="val 50000"/>
            </a:avLst>
          </a:prstGeom>
          <a:solidFill>
            <a:srgbClr val="EAF6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10332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835640" y="384048"/>
            <a:ext cx="868680" cy="365760"/>
          </a:xfrm>
          <a:prstGeom prst="roundRect">
            <a:avLst>
              <a:gd name="adj" fmla="val 20000"/>
            </a:avLst>
          </a:prstGeom>
          <a:solidFill>
            <a:srgbClr val="05445E"/>
          </a:solidFill>
          <a:ln/>
        </p:spPr>
      </p:sp>
      <p:sp>
        <p:nvSpPr>
          <p:cNvPr id="5" name="Text 3"/>
          <p:cNvSpPr/>
          <p:nvPr/>
        </p:nvSpPr>
        <p:spPr>
          <a:xfrm>
            <a:off x="10835640" y="384048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749808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544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Monthly Revenue Trend</a:t>
            </a:r>
            <a:endParaRPr lang="en-US" sz="2400" dirty="0"/>
          </a:p>
        </p:txBody>
      </p:sp>
      <p:pic>
        <p:nvPicPr>
          <p:cNvPr id="7" name="Image 0" descr="/home/claude/hms/charts/q3_monthly_revenu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480560" y="1600200"/>
            <a:ext cx="6949440" cy="47091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1600200"/>
            <a:ext cx="3840480" cy="4709160"/>
          </a:xfrm>
          <a:prstGeom prst="roundRect">
            <a:avLst>
              <a:gd name="adj" fmla="val 2143"/>
            </a:avLst>
          </a:prstGeom>
          <a:solidFill>
            <a:srgbClr val="EAF6F6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18288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31520" y="219456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0544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June is the peak month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731520" y="3236976"/>
            <a:ext cx="73152" cy="7315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9"/>
          <p:cNvSpPr/>
          <p:nvPr/>
        </p:nvSpPr>
        <p:spPr>
          <a:xfrm>
            <a:off x="914400" y="3127248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generated ₹41.4K — the hospital's highest month — followed by a February spike of ₹35.5K.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31520" y="3950208"/>
            <a:ext cx="73152" cy="7315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4" name="Text 11"/>
          <p:cNvSpPr/>
          <p:nvPr/>
        </p:nvSpPr>
        <p:spPr>
          <a:xfrm>
            <a:off x="914400" y="384048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dipped to the year's lowest at ₹13.7K.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31520" y="4663440"/>
            <a:ext cx="73152" cy="7315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Text 13"/>
          <p:cNvSpPr/>
          <p:nvPr/>
        </p:nvSpPr>
        <p:spPr>
          <a:xfrm>
            <a:off x="914400" y="4553712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recovers steadily from September through December, closing the year strong.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 — SQL Data Analysis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033272" cy="292608"/>
          </a:xfrm>
          <a:prstGeom prst="roundRect">
            <a:avLst>
              <a:gd name="adj" fmla="val 50000"/>
            </a:avLst>
          </a:prstGeom>
          <a:solidFill>
            <a:srgbClr val="EAF6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10332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835640" y="384048"/>
            <a:ext cx="868680" cy="365760"/>
          </a:xfrm>
          <a:prstGeom prst="roundRect">
            <a:avLst>
              <a:gd name="adj" fmla="val 20000"/>
            </a:avLst>
          </a:prstGeom>
          <a:solidFill>
            <a:srgbClr val="05445E"/>
          </a:solidFill>
          <a:ln/>
        </p:spPr>
      </p:sp>
      <p:sp>
        <p:nvSpPr>
          <p:cNvPr id="5" name="Text 3"/>
          <p:cNvSpPr/>
          <p:nvPr/>
        </p:nvSpPr>
        <p:spPr>
          <a:xfrm>
            <a:off x="10835640" y="384048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749808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544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Average Consultation Fee by Department</a:t>
            </a:r>
            <a:endParaRPr lang="en-US" sz="2400" dirty="0"/>
          </a:p>
        </p:txBody>
      </p:sp>
      <p:pic>
        <p:nvPicPr>
          <p:cNvPr id="7" name="Image 0" descr="/home/claude/hms/charts/q4_avg_fee_dep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480560" y="1600200"/>
            <a:ext cx="6949440" cy="47091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1600200"/>
            <a:ext cx="3840480" cy="4709160"/>
          </a:xfrm>
          <a:prstGeom prst="roundRect">
            <a:avLst>
              <a:gd name="adj" fmla="val 2143"/>
            </a:avLst>
          </a:prstGeom>
          <a:solidFill>
            <a:srgbClr val="EAF6F6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18288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31520" y="219456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0544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Cardiology commands the premium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731520" y="3236976"/>
            <a:ext cx="73152" cy="7315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9"/>
          <p:cNvSpPr/>
          <p:nvPr/>
        </p:nvSpPr>
        <p:spPr>
          <a:xfrm>
            <a:off x="914400" y="3127248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Cardiology charges an average ₹1,000 per consult — the highest of all 8 departments.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31520" y="3950208"/>
            <a:ext cx="73152" cy="7315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4" name="Text 11"/>
          <p:cNvSpPr/>
          <p:nvPr/>
        </p:nvSpPr>
        <p:spPr>
          <a:xfrm>
            <a:off x="914400" y="384048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Dermatology (₹867) and Pediatrics (₹825) follow.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31520" y="4663440"/>
            <a:ext cx="73152" cy="7315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Text 13"/>
          <p:cNvSpPr/>
          <p:nvPr/>
        </p:nvSpPr>
        <p:spPr>
          <a:xfrm>
            <a:off x="914400" y="4553712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Orthopedics is the most affordable at ₹560 despite having the most doctors.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 — SQL Data Analysis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86384" cy="292608"/>
          </a:xfrm>
          <a:prstGeom prst="roundRect">
            <a:avLst>
              <a:gd name="adj" fmla="val 50000"/>
            </a:avLst>
          </a:prstGeom>
          <a:solidFill>
            <a:srgbClr val="EAF6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7863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835640" y="384048"/>
            <a:ext cx="868680" cy="365760"/>
          </a:xfrm>
          <a:prstGeom prst="roundRect">
            <a:avLst>
              <a:gd name="adj" fmla="val 20000"/>
            </a:avLst>
          </a:prstGeom>
          <a:solidFill>
            <a:srgbClr val="05445E"/>
          </a:solidFill>
          <a:ln/>
        </p:spPr>
      </p:sp>
      <p:sp>
        <p:nvSpPr>
          <p:cNvPr id="5" name="Text 3"/>
          <p:cNvSpPr/>
          <p:nvPr/>
        </p:nvSpPr>
        <p:spPr>
          <a:xfrm>
            <a:off x="10835640" y="384048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749808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544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Average Treatment Cost by Department</a:t>
            </a:r>
            <a:endParaRPr lang="en-US" sz="2400" dirty="0"/>
          </a:p>
        </p:txBody>
      </p:sp>
      <p:pic>
        <p:nvPicPr>
          <p:cNvPr id="7" name="Image 0" descr="/home/claude/hms/charts/q7_avg_treatment_cos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480560" y="1600200"/>
            <a:ext cx="6949440" cy="47091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1600200"/>
            <a:ext cx="3840480" cy="4709160"/>
          </a:xfrm>
          <a:prstGeom prst="roundRect">
            <a:avLst>
              <a:gd name="adj" fmla="val 2143"/>
            </a:avLst>
          </a:prstGeom>
          <a:solidFill>
            <a:srgbClr val="EAF6F6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18288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31520" y="219456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0544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 treatments cost the most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731520" y="3236976"/>
            <a:ext cx="73152" cy="7315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9"/>
          <p:cNvSpPr/>
          <p:nvPr/>
        </p:nvSpPr>
        <p:spPr>
          <a:xfrm>
            <a:off x="914400" y="3127248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 treatments average ₹15,687 per procedure — the highest of any department, across 9 treatments.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31520" y="3950208"/>
            <a:ext cx="73152" cy="7315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4" name="Text 11"/>
          <p:cNvSpPr/>
          <p:nvPr/>
        </p:nvSpPr>
        <p:spPr>
          <a:xfrm>
            <a:off x="914400" y="384048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Pediatrics is the least costly on average, at ₹7,546.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31520" y="4663440"/>
            <a:ext cx="73152" cy="7315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Text 13"/>
          <p:cNvSpPr/>
          <p:nvPr/>
        </p:nvSpPr>
        <p:spPr>
          <a:xfrm>
            <a:off x="914400" y="4553712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and consultation fee don't move together — Cardiology has the priciest consults but not the priciest treatments.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 — SQL Data Analysis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362456" cy="292608"/>
          </a:xfrm>
          <a:prstGeom prst="roundRect">
            <a:avLst>
              <a:gd name="adj" fmla="val 50000"/>
            </a:avLst>
          </a:prstGeom>
          <a:solidFill>
            <a:srgbClr val="EAF6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13624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835640" y="384048"/>
            <a:ext cx="868680" cy="365760"/>
          </a:xfrm>
          <a:prstGeom prst="roundRect">
            <a:avLst>
              <a:gd name="adj" fmla="val 20000"/>
            </a:avLst>
          </a:prstGeom>
          <a:solidFill>
            <a:srgbClr val="05445E"/>
          </a:solidFill>
          <a:ln/>
        </p:spPr>
      </p:sp>
      <p:sp>
        <p:nvSpPr>
          <p:cNvPr id="5" name="Text 3"/>
          <p:cNvSpPr/>
          <p:nvPr/>
        </p:nvSpPr>
        <p:spPr>
          <a:xfrm>
            <a:off x="10835640" y="384048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Q10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749808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544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by Payment Method</a:t>
            </a:r>
            <a:endParaRPr lang="en-US" sz="2400" dirty="0"/>
          </a:p>
        </p:txBody>
      </p:sp>
      <p:pic>
        <p:nvPicPr>
          <p:cNvPr id="7" name="Image 0" descr="/home/claude/hms/charts/q10_revenue_payment_metho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480560" y="1600200"/>
            <a:ext cx="6949440" cy="47091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1600200"/>
            <a:ext cx="3840480" cy="4709160"/>
          </a:xfrm>
          <a:prstGeom prst="roundRect">
            <a:avLst>
              <a:gd name="adj" fmla="val 2143"/>
            </a:avLst>
          </a:prstGeom>
          <a:solidFill>
            <a:srgbClr val="EAF6F6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18288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31520" y="219456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0544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Cash &amp; card lead collections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731520" y="3236976"/>
            <a:ext cx="73152" cy="7315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9"/>
          <p:cNvSpPr/>
          <p:nvPr/>
        </p:nvSpPr>
        <p:spPr>
          <a:xfrm>
            <a:off x="914400" y="3127248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(₹35.3K) and Debit Card (₹35.1K) are the top two channels among successfully paid bills.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31520" y="3950208"/>
            <a:ext cx="73152" cy="7315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4" name="Text 11"/>
          <p:cNvSpPr/>
          <p:nvPr/>
        </p:nvSpPr>
        <p:spPr>
          <a:xfrm>
            <a:off x="914400" y="384048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settlements lag despite being used often — pointing to slower claim cycles.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31520" y="4663440"/>
            <a:ext cx="73152" cy="7315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Text 13"/>
          <p:cNvSpPr/>
          <p:nvPr/>
        </p:nvSpPr>
        <p:spPr>
          <a:xfrm>
            <a:off x="914400" y="4553712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'Paid' status transactions are counted here, isolating actual cash collected.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 — SQL Data Analysis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EAF6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835640" y="384048"/>
            <a:ext cx="868680" cy="365760"/>
          </a:xfrm>
          <a:prstGeom prst="roundRect">
            <a:avLst>
              <a:gd name="adj" fmla="val 20000"/>
            </a:avLst>
          </a:prstGeom>
          <a:solidFill>
            <a:srgbClr val="05445E"/>
          </a:solidFill>
          <a:ln/>
        </p:spPr>
      </p:sp>
      <p:sp>
        <p:nvSpPr>
          <p:cNvPr id="5" name="Text 3"/>
          <p:cNvSpPr/>
          <p:nvPr/>
        </p:nvSpPr>
        <p:spPr>
          <a:xfrm>
            <a:off x="10835640" y="384048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Q15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749808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544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Insurance vs. Cash Payments</a:t>
            </a:r>
            <a:endParaRPr lang="en-US" sz="2400" dirty="0"/>
          </a:p>
        </p:txBody>
      </p:sp>
      <p:pic>
        <p:nvPicPr>
          <p:cNvPr id="7" name="Image 0" descr="/home/claude/hms/charts/q15_insurance_vs_cash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480560" y="1920240"/>
            <a:ext cx="7223760" cy="40233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1600200"/>
            <a:ext cx="3840480" cy="4709160"/>
          </a:xfrm>
          <a:prstGeom prst="roundRect">
            <a:avLst>
              <a:gd name="adj" fmla="val 2143"/>
            </a:avLst>
          </a:prstGeom>
          <a:solidFill>
            <a:srgbClr val="EAF6F6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18288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31520" y="219456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0544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Cash outperforms insurance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731520" y="3236976"/>
            <a:ext cx="73152" cy="7315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9"/>
          <p:cNvSpPr/>
          <p:nvPr/>
        </p:nvSpPr>
        <p:spPr>
          <a:xfrm>
            <a:off x="914400" y="3127248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generated ₹50.4K in total revenue vs. ₹37.9K for insurance, from the same 10 transactions each.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31520" y="3950208"/>
            <a:ext cx="73152" cy="7315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4" name="Text 11"/>
          <p:cNvSpPr/>
          <p:nvPr/>
        </p:nvSpPr>
        <p:spPr>
          <a:xfrm>
            <a:off x="914400" y="384048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cash payment (₹5,041) is ~33% higher than average insurance payout (₹3,791).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31520" y="4663440"/>
            <a:ext cx="73152" cy="7315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Text 13"/>
          <p:cNvSpPr/>
          <p:nvPr/>
        </p:nvSpPr>
        <p:spPr>
          <a:xfrm>
            <a:off x="914400" y="4553712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claims may be settling at a discount versus the billed amount.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 — SQL Data Analysis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86384" cy="292608"/>
          </a:xfrm>
          <a:prstGeom prst="roundRect">
            <a:avLst>
              <a:gd name="adj" fmla="val 50000"/>
            </a:avLst>
          </a:prstGeom>
          <a:solidFill>
            <a:srgbClr val="EAF6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7863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835640" y="384048"/>
            <a:ext cx="868680" cy="365760"/>
          </a:xfrm>
          <a:prstGeom prst="roundRect">
            <a:avLst>
              <a:gd name="adj" fmla="val 20000"/>
            </a:avLst>
          </a:prstGeom>
          <a:solidFill>
            <a:srgbClr val="05445E"/>
          </a:solidFill>
          <a:ln/>
        </p:spPr>
      </p:sp>
      <p:sp>
        <p:nvSpPr>
          <p:cNvPr id="5" name="Text 3"/>
          <p:cNvSpPr/>
          <p:nvPr/>
        </p:nvSpPr>
        <p:spPr>
          <a:xfrm>
            <a:off x="10835640" y="384048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Q0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749808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544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Is Billing Revenue Getting Stuck?</a:t>
            </a:r>
            <a:endParaRPr lang="en-US" sz="2400" dirty="0"/>
          </a:p>
        </p:txBody>
      </p:sp>
      <p:pic>
        <p:nvPicPr>
          <p:cNvPr id="7" name="Image 0" descr="/home/claude/hms/charts/payment_status_breakdow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480560" y="1600200"/>
            <a:ext cx="6949440" cy="47091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1600200"/>
            <a:ext cx="3840480" cy="4709160"/>
          </a:xfrm>
          <a:prstGeom prst="roundRect">
            <a:avLst>
              <a:gd name="adj" fmla="val 2143"/>
            </a:avLst>
          </a:prstGeom>
          <a:solidFill>
            <a:srgbClr val="EAF6F6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18288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31520" y="219456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0544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in 3 payments fails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731520" y="3236976"/>
            <a:ext cx="73152" cy="7315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9"/>
          <p:cNvSpPr/>
          <p:nvPr/>
        </p:nvSpPr>
        <p:spPr>
          <a:xfrm>
            <a:off x="914400" y="3127248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50 recorded payments, only 36% are marked 'Paid' — an equal 36% are 'Failed'.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31520" y="3950208"/>
            <a:ext cx="73152" cy="7315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4" name="Text 11"/>
          <p:cNvSpPr/>
          <p:nvPr/>
        </p:nvSpPr>
        <p:spPr>
          <a:xfrm>
            <a:off x="914400" y="384048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remaining 28% sit in 'Pending' status awaiting settlement.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31520" y="4663440"/>
            <a:ext cx="73152" cy="7315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Text 13"/>
          <p:cNvSpPr/>
          <p:nvPr/>
        </p:nvSpPr>
        <p:spPr>
          <a:xfrm>
            <a:off x="914400" y="4553712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signals a real collections bottleneck worth investigating — a natural next KPI to track over time.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 — SQL Data Analysis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4206240"/>
            <a:ext cx="4572000" cy="4572000"/>
          </a:xfrm>
          <a:prstGeom prst="ellipse">
            <a:avLst/>
          </a:prstGeom>
          <a:solidFill>
            <a:srgbClr val="028090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278892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7889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C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22960" y="324612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Clinical Operations Analytics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22960" y="411480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5, 6, 13, 14 — medicines, labs, stays and rooms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15568" cy="292608"/>
          </a:xfrm>
          <a:prstGeom prst="roundRect">
            <a:avLst>
              <a:gd name="adj" fmla="val 50000"/>
            </a:avLst>
          </a:prstGeom>
          <a:solidFill>
            <a:srgbClr val="EAF6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11155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PHARMACY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835640" y="384048"/>
            <a:ext cx="868680" cy="365760"/>
          </a:xfrm>
          <a:prstGeom prst="roundRect">
            <a:avLst>
              <a:gd name="adj" fmla="val 20000"/>
            </a:avLst>
          </a:prstGeom>
          <a:solidFill>
            <a:srgbClr val="05445E"/>
          </a:solidFill>
          <a:ln/>
        </p:spPr>
      </p:sp>
      <p:sp>
        <p:nvSpPr>
          <p:cNvPr id="5" name="Text 3"/>
          <p:cNvSpPr/>
          <p:nvPr/>
        </p:nvSpPr>
        <p:spPr>
          <a:xfrm>
            <a:off x="10835640" y="384048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749808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544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Most Prescribed Medicines</a:t>
            </a:r>
            <a:endParaRPr lang="en-US" sz="2400" dirty="0"/>
          </a:p>
        </p:txBody>
      </p:sp>
      <p:pic>
        <p:nvPicPr>
          <p:cNvPr id="7" name="Image 0" descr="/home/claude/hms/charts/q5_top_medicin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480560" y="1600200"/>
            <a:ext cx="6949440" cy="47091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1600200"/>
            <a:ext cx="3840480" cy="4709160"/>
          </a:xfrm>
          <a:prstGeom prst="roundRect">
            <a:avLst>
              <a:gd name="adj" fmla="val 2143"/>
            </a:avLst>
          </a:prstGeom>
          <a:solidFill>
            <a:srgbClr val="EAF6F6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18288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31520" y="219456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0544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Chronic-care drugs top the list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731520" y="3236976"/>
            <a:ext cx="73152" cy="7315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9"/>
          <p:cNvSpPr/>
          <p:nvPr/>
        </p:nvSpPr>
        <p:spPr>
          <a:xfrm>
            <a:off x="914400" y="3127248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Amlodipine 5mg and Calcium Carbonate are each prescribed 6 times — the most of any medicine.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31520" y="3950208"/>
            <a:ext cx="73152" cy="7315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4" name="Text 11"/>
          <p:cNvSpPr/>
          <p:nvPr/>
        </p:nvSpPr>
        <p:spPr>
          <a:xfrm>
            <a:off x="914400" y="384048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Omeprazole, Vitamin D3 and Salbutamol Inhaler follow closely at 5 each.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31520" y="4663440"/>
            <a:ext cx="73152" cy="7315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Text 13"/>
          <p:cNvSpPr/>
          <p:nvPr/>
        </p:nvSpPr>
        <p:spPr>
          <a:xfrm>
            <a:off x="914400" y="4553712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variants of the same drug were grouped to reveal true demand by active medicine.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 — SQL Data Analysis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362456" cy="292608"/>
          </a:xfrm>
          <a:prstGeom prst="roundRect">
            <a:avLst>
              <a:gd name="adj" fmla="val 50000"/>
            </a:avLst>
          </a:prstGeom>
          <a:solidFill>
            <a:srgbClr val="EAF6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13624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835640" y="384048"/>
            <a:ext cx="868680" cy="365760"/>
          </a:xfrm>
          <a:prstGeom prst="roundRect">
            <a:avLst>
              <a:gd name="adj" fmla="val 20000"/>
            </a:avLst>
          </a:prstGeom>
          <a:solidFill>
            <a:srgbClr val="05445E"/>
          </a:solidFill>
          <a:ln/>
        </p:spPr>
      </p:sp>
      <p:sp>
        <p:nvSpPr>
          <p:cNvPr id="5" name="Text 3"/>
          <p:cNvSpPr/>
          <p:nvPr/>
        </p:nvSpPr>
        <p:spPr>
          <a:xfrm>
            <a:off x="10835640" y="384048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749808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544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Most Common Lab Tests</a:t>
            </a:r>
            <a:endParaRPr lang="en-US" sz="2400" dirty="0"/>
          </a:p>
        </p:txBody>
      </p:sp>
      <p:pic>
        <p:nvPicPr>
          <p:cNvPr id="7" name="Image 0" descr="/home/claude/hms/charts/q6_top_labtest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480560" y="1600200"/>
            <a:ext cx="6949440" cy="47091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1600200"/>
            <a:ext cx="3840480" cy="4709160"/>
          </a:xfrm>
          <a:prstGeom prst="roundRect">
            <a:avLst>
              <a:gd name="adj" fmla="val 2143"/>
            </a:avLst>
          </a:prstGeom>
          <a:solidFill>
            <a:srgbClr val="EAF6F6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18288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31520" y="219456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0544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Routine screens dominate volume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731520" y="3236976"/>
            <a:ext cx="73152" cy="7315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9"/>
          <p:cNvSpPr/>
          <p:nvPr/>
        </p:nvSpPr>
        <p:spPr>
          <a:xfrm>
            <a:off x="914400" y="3127248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Sugar (Fasting), CBC and CT Scan are tied as the most-ordered tests, each performed 6 times.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31520" y="3950208"/>
            <a:ext cx="73152" cy="7315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4" name="Text 11"/>
          <p:cNvSpPr/>
          <p:nvPr/>
        </p:nvSpPr>
        <p:spPr>
          <a:xfrm>
            <a:off x="914400" y="384048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MRI Scan and HbA1c follow at 4 each — reflecting steady diabetes and neuro workups.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31520" y="4663440"/>
            <a:ext cx="73152" cy="7315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Text 13"/>
          <p:cNvSpPr/>
          <p:nvPr/>
        </p:nvSpPr>
        <p:spPr>
          <a:xfrm>
            <a:off x="914400" y="4553712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CT/MRI scans are high-frequency AND high-cost — a good place to check turnaround time.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 — SQL Data Analysis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EAF6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835640" y="384048"/>
            <a:ext cx="868680" cy="365760"/>
          </a:xfrm>
          <a:prstGeom prst="roundRect">
            <a:avLst>
              <a:gd name="adj" fmla="val 20000"/>
            </a:avLst>
          </a:prstGeom>
          <a:solidFill>
            <a:srgbClr val="05445E"/>
          </a:solidFill>
          <a:ln/>
        </p:spPr>
      </p:sp>
      <p:sp>
        <p:nvSpPr>
          <p:cNvPr id="5" name="Text 3"/>
          <p:cNvSpPr/>
          <p:nvPr/>
        </p:nvSpPr>
        <p:spPr>
          <a:xfrm>
            <a:off x="10835640" y="384048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Q13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749808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544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Average Hospital Stay Duration</a:t>
            </a:r>
            <a:endParaRPr lang="en-US" sz="2400" dirty="0"/>
          </a:p>
        </p:txBody>
      </p:sp>
      <p:pic>
        <p:nvPicPr>
          <p:cNvPr id="7" name="Image 0" descr="/home/claude/hms/charts/q13_avg_sta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480560" y="1600200"/>
            <a:ext cx="6949440" cy="47091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1600200"/>
            <a:ext cx="3840480" cy="4709160"/>
          </a:xfrm>
          <a:prstGeom prst="roundRect">
            <a:avLst>
              <a:gd name="adj" fmla="val 2143"/>
            </a:avLst>
          </a:prstGeom>
          <a:solidFill>
            <a:srgbClr val="EAF6F6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18288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31520" y="219456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0544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Stays average just over 6 days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731520" y="3236976"/>
            <a:ext cx="73152" cy="7315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9"/>
          <p:cNvSpPr/>
          <p:nvPr/>
        </p:nvSpPr>
        <p:spPr>
          <a:xfrm>
            <a:off x="914400" y="3127248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admissions last an average of 6.21 days from admission to discharge.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31520" y="3950208"/>
            <a:ext cx="73152" cy="7315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4" name="Text 11"/>
          <p:cNvSpPr/>
          <p:nvPr/>
        </p:nvSpPr>
        <p:spPr>
          <a:xfrm>
            <a:off x="914400" y="384048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of 20 admissions have a recorded discharge date; 1 patient remains admitted (cardiac observation).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31520" y="4663440"/>
            <a:ext cx="73152" cy="7315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Text 13"/>
          <p:cNvSpPr/>
          <p:nvPr/>
        </p:nvSpPr>
        <p:spPr>
          <a:xfrm>
            <a:off x="914400" y="4553712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DATEDIFF(DAY, admission_date, discharge_date) is filtered to exclude the still-admitted case.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 — SQL Data Analysis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EAF6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835640" y="384048"/>
            <a:ext cx="868680" cy="365760"/>
          </a:xfrm>
          <a:prstGeom prst="roundRect">
            <a:avLst>
              <a:gd name="adj" fmla="val 20000"/>
            </a:avLst>
          </a:prstGeom>
          <a:solidFill>
            <a:srgbClr val="05445E"/>
          </a:solidFill>
          <a:ln/>
        </p:spPr>
      </p:sp>
      <p:sp>
        <p:nvSpPr>
          <p:cNvPr id="5" name="Text 3"/>
          <p:cNvSpPr/>
          <p:nvPr/>
        </p:nvSpPr>
        <p:spPr>
          <a:xfrm>
            <a:off x="10835640" y="384048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Q14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749808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544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Most Frequently Used Room Type</a:t>
            </a:r>
            <a:endParaRPr lang="en-US" sz="2400" dirty="0"/>
          </a:p>
        </p:txBody>
      </p:sp>
      <p:pic>
        <p:nvPicPr>
          <p:cNvPr id="7" name="Image 0" descr="/home/claude/hms/charts/q14_room_type_usag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480560" y="1600200"/>
            <a:ext cx="6949440" cy="47091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1600200"/>
            <a:ext cx="3840480" cy="4709160"/>
          </a:xfrm>
          <a:prstGeom prst="roundRect">
            <a:avLst>
              <a:gd name="adj" fmla="val 2143"/>
            </a:avLst>
          </a:prstGeom>
          <a:solidFill>
            <a:srgbClr val="EAF6F6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18288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31520" y="219456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0544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Semi-Private rooms see the most turnover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731520" y="3236976"/>
            <a:ext cx="73152" cy="7315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9"/>
          <p:cNvSpPr/>
          <p:nvPr/>
        </p:nvSpPr>
        <p:spPr>
          <a:xfrm>
            <a:off x="914400" y="3127248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Semi-Private rooms were used in 7 admissions — more than any other type.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31520" y="3950208"/>
            <a:ext cx="73152" cy="7315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4" name="Text 11"/>
          <p:cNvSpPr/>
          <p:nvPr/>
        </p:nvSpPr>
        <p:spPr>
          <a:xfrm>
            <a:off x="914400" y="384048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ICU and Private rooms tie at 5 admissions each, reflecting a steady stream of critical cases.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31520" y="4663440"/>
            <a:ext cx="73152" cy="7315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Text 13"/>
          <p:cNvSpPr/>
          <p:nvPr/>
        </p:nvSpPr>
        <p:spPr>
          <a:xfrm>
            <a:off x="914400" y="4553712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Ward sees the least admission activity at 3, despite being the cheapest option.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 — SQL Data Analysis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4206240"/>
            <a:ext cx="4572000" cy="4572000"/>
          </a:xfrm>
          <a:prstGeom prst="ellipse">
            <a:avLst/>
          </a:prstGeom>
          <a:solidFill>
            <a:srgbClr val="028090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278892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7889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D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22960" y="324612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Patient &amp; Facility Analytics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22960" y="411480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8, 9, 11 — where patients come from and how full the hospital runs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15568" cy="292608"/>
          </a:xfrm>
          <a:prstGeom prst="roundRect">
            <a:avLst>
              <a:gd name="adj" fmla="val 50000"/>
            </a:avLst>
          </a:prstGeom>
          <a:solidFill>
            <a:srgbClr val="EAF6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11155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835640" y="384048"/>
            <a:ext cx="868680" cy="365760"/>
          </a:xfrm>
          <a:prstGeom prst="roundRect">
            <a:avLst>
              <a:gd name="adj" fmla="val 20000"/>
            </a:avLst>
          </a:prstGeom>
          <a:solidFill>
            <a:srgbClr val="05445E"/>
          </a:solidFill>
          <a:ln/>
        </p:spPr>
      </p:sp>
      <p:sp>
        <p:nvSpPr>
          <p:cNvPr id="5" name="Text 3"/>
          <p:cNvSpPr/>
          <p:nvPr/>
        </p:nvSpPr>
        <p:spPr>
          <a:xfrm>
            <a:off x="10835640" y="384048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Q8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749808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544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Room Occupancy Rate</a:t>
            </a:r>
            <a:endParaRPr lang="en-US" sz="2400" dirty="0"/>
          </a:p>
        </p:txBody>
      </p:sp>
      <p:pic>
        <p:nvPicPr>
          <p:cNvPr id="7" name="Image 0" descr="/home/claude/hms/charts/q8_room_occupanc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206240" y="1280160"/>
            <a:ext cx="5120640" cy="51206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1600200"/>
            <a:ext cx="3840480" cy="4709160"/>
          </a:xfrm>
          <a:prstGeom prst="roundRect">
            <a:avLst>
              <a:gd name="adj" fmla="val 2143"/>
            </a:avLst>
          </a:prstGeom>
          <a:solidFill>
            <a:srgbClr val="EAF6F6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18288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31520" y="219456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0544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 half the hospital is full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731520" y="3236976"/>
            <a:ext cx="73152" cy="7315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9"/>
          <p:cNvSpPr/>
          <p:nvPr/>
        </p:nvSpPr>
        <p:spPr>
          <a:xfrm>
            <a:off x="914400" y="3127248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57.5% of all 40 rooms are currently Occupied — 23 rooms in use against 17 available.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31520" y="3950208"/>
            <a:ext cx="73152" cy="7315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4" name="Text 11"/>
          <p:cNvSpPr/>
          <p:nvPr/>
        </p:nvSpPr>
        <p:spPr>
          <a:xfrm>
            <a:off x="914400" y="384048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leaves meaningful headroom, but ICU and Deluxe rooms trend toward being the tightest categories.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31520" y="4663440"/>
            <a:ext cx="73152" cy="7315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Text 13"/>
          <p:cNvSpPr/>
          <p:nvPr/>
        </p:nvSpPr>
        <p:spPr>
          <a:xfrm>
            <a:off x="914400" y="4553712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version of this view would flag when occupancy nears a safety threshold.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 — SQL Data Analysis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97864" cy="292608"/>
          </a:xfrm>
          <a:prstGeom prst="roundRect">
            <a:avLst>
              <a:gd name="adj" fmla="val 50000"/>
            </a:avLst>
          </a:prstGeom>
          <a:solidFill>
            <a:srgbClr val="EAF6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1197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835640" y="384048"/>
            <a:ext cx="868680" cy="365760"/>
          </a:xfrm>
          <a:prstGeom prst="roundRect">
            <a:avLst>
              <a:gd name="adj" fmla="val 20000"/>
            </a:avLst>
          </a:prstGeom>
          <a:solidFill>
            <a:srgbClr val="05445E"/>
          </a:solidFill>
          <a:ln/>
        </p:spPr>
      </p:sp>
      <p:sp>
        <p:nvSpPr>
          <p:cNvPr id="5" name="Text 3"/>
          <p:cNvSpPr/>
          <p:nvPr/>
        </p:nvSpPr>
        <p:spPr>
          <a:xfrm>
            <a:off x="10835640" y="384048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Q9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749808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544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Patient Distribution by City</a:t>
            </a:r>
            <a:endParaRPr lang="en-US" sz="2400" dirty="0"/>
          </a:p>
        </p:txBody>
      </p:sp>
      <p:pic>
        <p:nvPicPr>
          <p:cNvPr id="7" name="Image 0" descr="/home/claude/hms/charts/q9_patients_cit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480560" y="1600200"/>
            <a:ext cx="6949440" cy="47091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1600200"/>
            <a:ext cx="3840480" cy="4709160"/>
          </a:xfrm>
          <a:prstGeom prst="roundRect">
            <a:avLst>
              <a:gd name="adj" fmla="val 2143"/>
            </a:avLst>
          </a:prstGeom>
          <a:solidFill>
            <a:srgbClr val="EAF6F6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18288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31520" y="219456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0544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Metro hubs lead patient volume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731520" y="3236976"/>
            <a:ext cx="73152" cy="7315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9"/>
          <p:cNvSpPr/>
          <p:nvPr/>
        </p:nvSpPr>
        <p:spPr>
          <a:xfrm>
            <a:off x="914400" y="3127248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Chennai, Pune and Mumbai each contribute 5 patients — the top three source cities.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31520" y="3950208"/>
            <a:ext cx="73152" cy="7315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4" name="Text 11"/>
          <p:cNvSpPr/>
          <p:nvPr/>
        </p:nvSpPr>
        <p:spPr>
          <a:xfrm>
            <a:off x="914400" y="384048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Bengaluru and Jaipur follow with 4 patients apiece.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31520" y="4663440"/>
            <a:ext cx="73152" cy="7315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Text 13"/>
          <p:cNvSpPr/>
          <p:nvPr/>
        </p:nvSpPr>
        <p:spPr>
          <a:xfrm>
            <a:off x="914400" y="4553712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span 12 cities across India, suggesting a referral base beyond the immediate metro.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 — SQL Data Analysis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950976" cy="292608"/>
          </a:xfrm>
          <a:prstGeom prst="roundRect">
            <a:avLst>
              <a:gd name="adj" fmla="val 50000"/>
            </a:avLst>
          </a:prstGeom>
          <a:solidFill>
            <a:srgbClr val="EAF6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9509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835640" y="384048"/>
            <a:ext cx="868680" cy="365760"/>
          </a:xfrm>
          <a:prstGeom prst="roundRect">
            <a:avLst>
              <a:gd name="adj" fmla="val 20000"/>
            </a:avLst>
          </a:prstGeom>
          <a:solidFill>
            <a:srgbClr val="05445E"/>
          </a:solidFill>
          <a:ln/>
        </p:spPr>
      </p:sp>
      <p:sp>
        <p:nvSpPr>
          <p:cNvPr id="5" name="Text 3"/>
          <p:cNvSpPr/>
          <p:nvPr/>
        </p:nvSpPr>
        <p:spPr>
          <a:xfrm>
            <a:off x="10835640" y="384048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749808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544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Monthly Appointment Volume</a:t>
            </a:r>
            <a:endParaRPr lang="en-US" sz="2400" dirty="0"/>
          </a:p>
        </p:txBody>
      </p:sp>
      <p:pic>
        <p:nvPicPr>
          <p:cNvPr id="7" name="Image 0" descr="/home/claude/hms/charts/q11_monthly_appointment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480560" y="1600200"/>
            <a:ext cx="6949440" cy="47091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1600200"/>
            <a:ext cx="3840480" cy="4709160"/>
          </a:xfrm>
          <a:prstGeom prst="roundRect">
            <a:avLst>
              <a:gd name="adj" fmla="val 2143"/>
            </a:avLst>
          </a:prstGeom>
          <a:solidFill>
            <a:srgbClr val="EAF6F6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18288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31520" y="219456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0544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October is the busiest month for visits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731520" y="3236976"/>
            <a:ext cx="73152" cy="7315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9"/>
          <p:cNvSpPr/>
          <p:nvPr/>
        </p:nvSpPr>
        <p:spPr>
          <a:xfrm>
            <a:off x="914400" y="3127248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October recorded 10 appointments — the year's peak — while March saw just 1.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31520" y="3950208"/>
            <a:ext cx="73152" cy="7315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4" name="Text 11"/>
          <p:cNvSpPr/>
          <p:nvPr/>
        </p:nvSpPr>
        <p:spPr>
          <a:xfrm>
            <a:off x="914400" y="384048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is uneven month to month, with no clear seasonal pattern across the year.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31520" y="4663440"/>
            <a:ext cx="73152" cy="7315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Text 13"/>
          <p:cNvSpPr/>
          <p:nvPr/>
        </p:nvSpPr>
        <p:spPr>
          <a:xfrm>
            <a:off x="914400" y="4553712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Pairing this with the Q3 revenue trend shows visit volume and revenue don't always move together.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 — SQL Data Analysis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033272" cy="292608"/>
          </a:xfrm>
          <a:prstGeom prst="roundRect">
            <a:avLst>
              <a:gd name="adj" fmla="val 50000"/>
            </a:avLst>
          </a:prstGeom>
          <a:solidFill>
            <a:srgbClr val="EAF6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10332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544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Appointment Reliability &amp; Lab Result Quality</a:t>
            </a:r>
            <a:endParaRPr lang="en-US" sz="2400" dirty="0"/>
          </a:p>
        </p:txBody>
      </p:sp>
      <p:pic>
        <p:nvPicPr>
          <p:cNvPr id="5" name="Image 0" descr="/home/claude/hms/charts/appt_status_breakdow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554480"/>
            <a:ext cx="5394960" cy="4846320"/>
          </a:xfrm>
          <a:prstGeom prst="rect">
            <a:avLst/>
          </a:prstGeom>
        </p:spPr>
      </p:pic>
      <p:pic>
        <p:nvPicPr>
          <p:cNvPr id="6" name="Image 1" descr="/home/claude/hms/charts/test_results_breakdown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263640" y="1554480"/>
            <a:ext cx="5394960" cy="48463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 — SQL Data Analysis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362456" cy="292608"/>
          </a:xfrm>
          <a:prstGeom prst="roundRect">
            <a:avLst>
              <a:gd name="adj" fmla="val 50000"/>
            </a:avLst>
          </a:prstGeom>
          <a:solidFill>
            <a:srgbClr val="EAF6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13624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544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One-Off Queries to Reusable KPI Views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recurring question was wrapped in a SQL View — so stakeholders query a stable name instead of re-writing logic each time.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2057400"/>
            <a:ext cx="3566160" cy="3063240"/>
          </a:xfrm>
          <a:prstGeom prst="roundRect">
            <a:avLst>
              <a:gd name="adj" fmla="val 2687"/>
            </a:avLst>
          </a:prstGeom>
          <a:solidFill>
            <a:srgbClr val="FFFFFF"/>
          </a:solidFill>
          <a:ln w="12700">
            <a:solidFill>
              <a:srgbClr val="E3E9EA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2057400"/>
            <a:ext cx="3566160" cy="10972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713232" y="237744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💰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13232" y="2971800"/>
            <a:ext cx="30540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544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vw_MonthlyRevenue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713232" y="3429000"/>
            <a:ext cx="3054096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Aggregates Billing by year &amp; month for trend reporting and dashboards.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43400" y="2057400"/>
            <a:ext cx="3566160" cy="3063240"/>
          </a:xfrm>
          <a:prstGeom prst="roundRect">
            <a:avLst>
              <a:gd name="adj" fmla="val 2687"/>
            </a:avLst>
          </a:prstGeom>
          <a:solidFill>
            <a:srgbClr val="FFFFFF"/>
          </a:solidFill>
          <a:ln w="12700">
            <a:solidFill>
              <a:srgbClr val="E3E9EA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43400" y="2057400"/>
            <a:ext cx="3566160" cy="109728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3" name="Text 11"/>
          <p:cNvSpPr/>
          <p:nvPr/>
        </p:nvSpPr>
        <p:spPr>
          <a:xfrm>
            <a:off x="4599432" y="237744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🩺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599432" y="2971800"/>
            <a:ext cx="30540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544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vw_DoctorPerformance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599432" y="3429000"/>
            <a:ext cx="3054096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Ranks every doctor by appointments and unique patients, joined to department.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229600" y="2057400"/>
            <a:ext cx="3566160" cy="3063240"/>
          </a:xfrm>
          <a:prstGeom prst="roundRect">
            <a:avLst>
              <a:gd name="adj" fmla="val 2687"/>
            </a:avLst>
          </a:prstGeom>
          <a:solidFill>
            <a:srgbClr val="FFFFFF"/>
          </a:solidFill>
          <a:ln w="12700">
            <a:solidFill>
              <a:srgbClr val="E3E9EA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29600" y="2057400"/>
            <a:ext cx="3566160" cy="10972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/>
          <p:nvPr/>
        </p:nvSpPr>
        <p:spPr>
          <a:xfrm>
            <a:off x="8485632" y="237744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🛏️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8485632" y="2971800"/>
            <a:ext cx="30540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544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vw_RoomOccupancy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8485632" y="3429000"/>
            <a:ext cx="3054096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occupancy % by room type — the same logic behind the Q8 donut chart.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5349240"/>
            <a:ext cx="11247120" cy="960120"/>
          </a:xfrm>
          <a:prstGeom prst="roundRect">
            <a:avLst>
              <a:gd name="adj" fmla="val 7619"/>
            </a:avLst>
          </a:prstGeom>
          <a:solidFill>
            <a:srgbClr val="05445E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5349240"/>
            <a:ext cx="10607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vw_DoctorPerformance ORDER BY appointment_rank;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 — SQL Data Analysis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097280"/>
            <a:ext cx="3657600" cy="3657600"/>
          </a:xfrm>
          <a:prstGeom prst="ellipse">
            <a:avLst/>
          </a:prstGeom>
          <a:solidFill>
            <a:srgbClr val="028090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384048"/>
            <a:ext cx="1033272" cy="292608"/>
          </a:xfrm>
          <a:prstGeom prst="roundRect">
            <a:avLst>
              <a:gd name="adj" fmla="val 50000"/>
            </a:avLst>
          </a:prstGeom>
          <a:solidFill>
            <a:srgbClr val="0C3D52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384048"/>
            <a:ext cx="10332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22960" y="8686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Project Demonstrates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178308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783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🔗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08760" y="1755648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thinking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5532120" y="1755648"/>
            <a:ext cx="5760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Modeled 14 interlinked tables spanning clinical, resource and financial data.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" y="265176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651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🧮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508760" y="2624328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SQL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5532120" y="2624328"/>
            <a:ext cx="5760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Joins, aggregation, CASE logic, DATEDIFF and window functions (RANK/DENSE_RANK) used purposefully, not decoratively.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" y="352044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520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📈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508760" y="3493008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framing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5532120" y="3493008"/>
            <a:ext cx="5760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query maps to a real hospital-management decision — staffing, pricing, capacity, or collections.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22960" y="438912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28090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4389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♻️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508760" y="4361688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habits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5532120" y="4361688"/>
            <a:ext cx="5760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views turn ad-hoc analysis into stable, dashboard-ready building blocks.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22960" y="5577840"/>
            <a:ext cx="10515600" cy="0"/>
          </a:xfrm>
          <a:prstGeom prst="line">
            <a:avLst/>
          </a:prstGeom>
          <a:noFill/>
          <a:ln w="12700">
            <a:solidFill>
              <a:srgbClr val="2C5F7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57607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 Pandey   </a:t>
            </a:r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 Data Analyst / BI Analyst / AI Analyst   |   </a:t>
            </a:r>
            <a:pPr indent="0" marL="0">
              <a:buNone/>
            </a:pPr>
            <a:r>
              <a:rPr lang="en-US" sz="12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github.com/harshpandey97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2026-09-12T03:15:22Z</dcterms:created>
  <dcterms:modified xsi:type="dcterms:W3CDTF">2026-09-12T03:15:22Z</dcterms:modified>
</cp:coreProperties>
</file>